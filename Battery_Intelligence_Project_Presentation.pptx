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2ED5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8FF"/>
                </a:solidFill>
              </a:rPr>
              <a:t>Battery Intelligence Dashboard for EVs and Drones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0584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DCCE1"/>
                </a:solidFill>
              </a:rPr>
              <a:t>Machine-learning based prediction of battery wear, degradation, and remaining useful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669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5F8FF"/>
                </a:solidFill>
              </a:defRPr>
            </a:pPr>
            <a:r>
              <a:t>Uses real NASA Li-ion battery aging data stored in the project workspace</a:t>
            </a:r>
          </a:p>
          <a:p>
            <a:pPr>
              <a:spcAft>
                <a:spcPts val="600"/>
              </a:spcAft>
              <a:defRPr sz="1800">
                <a:solidFill>
                  <a:srgbClr val="F5F8FF"/>
                </a:solidFill>
              </a:defRPr>
            </a:pPr>
            <a:r>
              <a:t>Combines ML prediction, anomaly detection, and realistic EV/drone operating stress simulation</a:t>
            </a:r>
          </a:p>
          <a:p>
            <a:pPr>
              <a:spcAft>
                <a:spcPts val="600"/>
              </a:spcAft>
              <a:defRPr sz="1800">
                <a:solidFill>
                  <a:srgbClr val="F5F8FF"/>
                </a:solidFill>
              </a:defRPr>
            </a:pPr>
            <a:r>
              <a:t>Predicts SoH, wear %, RUL, end-of-life, failure probability, thermal risk, and pack imbalance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645920"/>
            <a:ext cx="1828800" cy="1280160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79792" y="1792224"/>
            <a:ext cx="1508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779B"/>
                </a:solidFill>
              </a:rPr>
              <a:t>Training Samples</a:t>
            </a:r>
          </a:p>
          <a:p>
            <a:r>
              <a:rPr sz="2200" b="1">
                <a:solidFill>
                  <a:srgbClr val="F5F8FF"/>
                </a:solidFill>
              </a:rPr>
              <a:t>2533</a:t>
            </a:r>
          </a:p>
          <a:p>
            <a:r>
              <a:rPr sz="1000">
                <a:solidFill>
                  <a:srgbClr val="BDCCE1"/>
                </a:solidFill>
              </a:rPr>
              <a:t>Real discharge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1645920"/>
            <a:ext cx="1828800" cy="1280160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82912" y="1792224"/>
            <a:ext cx="1508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779B"/>
                </a:solidFill>
              </a:rPr>
              <a:t>Battery Cells</a:t>
            </a:r>
          </a:p>
          <a:p>
            <a:r>
              <a:rPr sz="2200" b="1">
                <a:solidFill>
                  <a:srgbClr val="F5F8FF"/>
                </a:solidFill>
              </a:rPr>
              <a:t>34</a:t>
            </a:r>
          </a:p>
          <a:p>
            <a:r>
              <a:rPr sz="1000">
                <a:solidFill>
                  <a:srgbClr val="BDCCE1"/>
                </a:solidFill>
              </a:rPr>
              <a:t>Unique NASA cells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154680"/>
            <a:ext cx="1828800" cy="1280160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79792" y="3300984"/>
            <a:ext cx="1508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779B"/>
                </a:solidFill>
              </a:rPr>
              <a:t>SoH MAE</a:t>
            </a:r>
          </a:p>
          <a:p>
            <a:r>
              <a:rPr sz="2200" b="1">
                <a:solidFill>
                  <a:srgbClr val="F5F8FF"/>
                </a:solidFill>
              </a:rPr>
              <a:t>1.58%</a:t>
            </a:r>
          </a:p>
          <a:p>
            <a:r>
              <a:rPr sz="1000">
                <a:solidFill>
                  <a:srgbClr val="BDCCE1"/>
                </a:solidFill>
              </a:rPr>
              <a:t>Prediction error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18320" y="3154680"/>
            <a:ext cx="1828800" cy="1280160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82912" y="3300984"/>
            <a:ext cx="15087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779B"/>
                </a:solidFill>
              </a:rPr>
              <a:t>RUL MAE</a:t>
            </a:r>
          </a:p>
          <a:p>
            <a:r>
              <a:rPr sz="2200" b="1">
                <a:solidFill>
                  <a:srgbClr val="F5F8FF"/>
                </a:solidFill>
              </a:rPr>
              <a:t>0.97</a:t>
            </a:r>
          </a:p>
          <a:p>
            <a:r>
              <a:rPr sz="1000">
                <a:solidFill>
                  <a:srgbClr val="BDCCE1"/>
                </a:solidFill>
              </a:rPr>
              <a:t>Cycles 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DCCE1"/>
                </a:solidFill>
              </a:defRPr>
            </a:pPr>
            <a:r>
              <a:t>Team project presentation deck generated automatically from the current codebase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8FF"/>
                </a:solidFill>
              </a:rPr>
              <a:t>Shortforms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DCCE1"/>
                </a:solidFill>
              </a:rPr>
              <a:t>Abbreviations used across the model, UI, formulas, and explanation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64240" cy="5120640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3752697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DCCE1"/>
                </a:solidFill>
              </a:rPr>
              <a:t>EV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64608" y="1691640"/>
            <a:ext cx="5727801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5F8FF"/>
                </a:solidFill>
              </a:rPr>
              <a:t>Electric Vehicle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75688"/>
            <a:ext cx="3752697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DCCE1"/>
                </a:solidFill>
              </a:rPr>
              <a:t>SoH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64608" y="2075688"/>
            <a:ext cx="5727801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5F8FF"/>
                </a:solidFill>
              </a:rPr>
              <a:t>State of 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59736"/>
            <a:ext cx="3752697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DCCE1"/>
                </a:solidFill>
              </a:rPr>
              <a:t>RUL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4608" y="2459736"/>
            <a:ext cx="5727801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5F8FF"/>
                </a:solidFill>
              </a:rPr>
              <a:t>Remaining Useful Life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43784"/>
            <a:ext cx="3752697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DCCE1"/>
                </a:solidFill>
              </a:rPr>
              <a:t>DoD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64608" y="2843784"/>
            <a:ext cx="5727801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5F8FF"/>
                </a:solidFill>
              </a:rPr>
              <a:t>Depth of Discharge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27832"/>
            <a:ext cx="3752697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DCCE1"/>
                </a:solidFill>
              </a:rPr>
              <a:t>SoC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3227832"/>
            <a:ext cx="5727801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5F8FF"/>
                </a:solidFill>
              </a:rPr>
              <a:t>State of Charge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11880"/>
            <a:ext cx="3752697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DCCE1"/>
                </a:solidFill>
              </a:rPr>
              <a:t>MAE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4608" y="3611880"/>
            <a:ext cx="5727801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5F8FF"/>
                </a:solidFill>
              </a:rPr>
              <a:t>Mean Absolute 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95928"/>
            <a:ext cx="3752697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DCCE1"/>
                </a:solidFill>
              </a:rPr>
              <a:t>R²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64608" y="3995928"/>
            <a:ext cx="5727801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5F8FF"/>
                </a:solidFill>
              </a:rPr>
              <a:t>Coefficient of Determination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79976"/>
            <a:ext cx="3752697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DCCE1"/>
                </a:solidFill>
              </a:rPr>
              <a:t>C-rate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4608" y="4379976"/>
            <a:ext cx="5727801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5F8FF"/>
                </a:solidFill>
              </a:rPr>
              <a:t>Charge/Discharge rate normalized by battery capacity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64024"/>
            <a:ext cx="3752697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DCCE1"/>
                </a:solidFill>
              </a:rPr>
              <a:t>Wh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8" y="4764024"/>
            <a:ext cx="5727801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5F8FF"/>
                </a:solidFill>
              </a:rPr>
              <a:t>Watt-hour, energy delivered by the battery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148072"/>
            <a:ext cx="3752697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DCCE1"/>
                </a:solidFill>
              </a:rPr>
              <a:t>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4608" y="5148072"/>
            <a:ext cx="5727801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5F8FF"/>
                </a:solidFill>
              </a:rPr>
              <a:t>Machine Learning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532120"/>
            <a:ext cx="3752697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DCCE1"/>
                </a:solidFill>
              </a:rPr>
              <a:t>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4608" y="5532120"/>
            <a:ext cx="5727801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5F8FF"/>
                </a:solidFill>
              </a:rPr>
              <a:t>User Interface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916168"/>
            <a:ext cx="3752697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DCCE1"/>
                </a:solidFill>
              </a:rPr>
              <a:t>Li-ion / LiPo / LFP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64608" y="5916168"/>
            <a:ext cx="5727801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5F8FF"/>
                </a:solidFill>
              </a:rPr>
              <a:t>Battery chemistry families used in the scenario layer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8FF"/>
                </a:solidFill>
              </a:rPr>
              <a:t>How The Project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DCCE1"/>
                </a:solidFill>
              </a:rPr>
              <a:t>End-to-end workflow from raw NASA battery files to dashboard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2011680" cy="530352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834640" y="1371600"/>
            <a:ext cx="8503920" cy="530352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4813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</a:defRPr>
            </a:pPr>
            <a:r>
              <a:t>1. Dataset ingestion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46304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DCCE1"/>
                </a:solidFill>
              </a:defRPr>
            </a:pPr>
            <a:r>
              <a:t>MATLAB .mat files are read from NASA battery aging archives in the workspace.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66543"/>
            <a:ext cx="2011680" cy="530352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4640" y="2066543"/>
            <a:ext cx="8503920" cy="530352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1762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</a:defRPr>
            </a:pPr>
            <a:r>
              <a:t>2. 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157984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DCCE1"/>
                </a:solidFill>
              </a:defRPr>
            </a:pPr>
            <a:r>
              <a:t>Discharge capacity, voltage, current, temperature, energy, impedance, and C-rate are extracted.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61488"/>
            <a:ext cx="2011680" cy="530352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34640" y="2761488"/>
            <a:ext cx="8503920" cy="530352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87121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</a:defRPr>
            </a:pPr>
            <a:r>
              <a:t>3. Label generation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85292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DCCE1"/>
                </a:solidFill>
              </a:defRPr>
            </a:pPr>
            <a:r>
              <a:t>SoH and RUL labels are derived from each battery’s degradation trajectory.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56432"/>
            <a:ext cx="2011680" cy="530352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34640" y="3456432"/>
            <a:ext cx="8503920" cy="530352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566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</a:defRPr>
            </a:pPr>
            <a:r>
              <a:t>4. Model comparison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547872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DCCE1"/>
                </a:solidFill>
              </a:defRPr>
            </a:pPr>
            <a:r>
              <a:t>Random Forest, Extra Trees, and Gradient Boosting are trained and benchmarked.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151376"/>
            <a:ext cx="2011680" cy="530352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834640" y="4151376"/>
            <a:ext cx="8503920" cy="530352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26110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</a:defRPr>
            </a:pPr>
            <a:r>
              <a:t>5. Final prediction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242816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DCCE1"/>
                </a:solidFill>
              </a:defRPr>
            </a:pPr>
            <a:r>
              <a:t>Best models plus anomaly detection are saved and loaded by the web server.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846320"/>
            <a:ext cx="2011680" cy="530352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834640" y="4846320"/>
            <a:ext cx="8503920" cy="530352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49560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</a:defRPr>
            </a:pPr>
            <a:r>
              <a:t>6. Scenario realism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17520" y="4937759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DCCE1"/>
                </a:solidFill>
              </a:defRPr>
            </a:pPr>
            <a:r>
              <a:t>EV/drone profile, chemistry, SoC, DoD, mission stress, age, and fast charging adjust the output.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541264"/>
            <a:ext cx="2011680" cy="530352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834640" y="5541264"/>
            <a:ext cx="8503920" cy="530352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56509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</a:defRPr>
            </a:pPr>
            <a:r>
              <a:t>7. Dashboard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5632704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BDCCE1"/>
                </a:solidFill>
              </a:defRPr>
            </a:pPr>
            <a:r>
              <a:t>UI shows SoH, wear, RUL, failure risk, heatmap, contributions, and what-if recommendations.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8FF"/>
                </a:solidFill>
              </a:rPr>
              <a:t>Dataset And Training 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DCCE1"/>
                </a:solidFill>
              </a:rPr>
              <a:t>Real battery-aging data used to build the ML core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212080" cy="4389120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399032"/>
            <a:ext cx="4846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ED5BF"/>
                </a:solidFill>
              </a:rPr>
              <a:t>Dataset 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Training samples: 2533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Battery cells: 34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Source: NASA Li-ion Battery Aging Dataset and randomized battery usage series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Local workspace contains zipped MATLAB datasets and readme files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Rows are built from discharge and impedance cycles only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Invalid or nonphysical rows are filtered before training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25880"/>
            <a:ext cx="5394960" cy="4389120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39903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ED5BF"/>
                </a:solidFill>
              </a:rPr>
              <a:t>Learned Feature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78308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Internal resistance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Capacity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Cycle number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Cell and ambient temperature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Average and minimum voltage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Average / peak current and current variation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Discharge duration, energy delivered, and load C-rate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8FF"/>
                </a:solidFill>
              </a:rPr>
              <a:t>Parameters Used And Their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DCCE1"/>
                </a:solidFill>
              </a:rPr>
              <a:t>How each major input affects the output prediction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10972800" cy="5212080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389168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DCCE1"/>
                </a:solidFill>
              </a:rPr>
              <a:t>Internal resistance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10912" y="1645920"/>
            <a:ext cx="593994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5F8FF"/>
                </a:solidFill>
              </a:rPr>
              <a:t>Higher resistance usually increases wear, lowers SoH, and raises failure risk.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89168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DCCE1"/>
                </a:solidFill>
              </a:rPr>
              <a:t>Capacity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10912" y="2103120"/>
            <a:ext cx="593994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5F8FF"/>
                </a:solidFill>
              </a:rPr>
              <a:t>Lower available capacity directly reduces SoH and shortens RUL.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389168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DCCE1"/>
                </a:solidFill>
              </a:rPr>
              <a:t>Cycle number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10912" y="2560320"/>
            <a:ext cx="593994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5F8FF"/>
                </a:solidFill>
              </a:rPr>
              <a:t>More cycles generally mean older battery state and lower remaining life.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389168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DCCE1"/>
                </a:solidFill>
              </a:rPr>
              <a:t>Temperature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0912" y="3017520"/>
            <a:ext cx="593994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5F8FF"/>
                </a:solidFill>
              </a:rPr>
              <a:t>High temperature accelerates degradation and pushes thermal risk upward.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74720"/>
            <a:ext cx="389168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DCCE1"/>
                </a:solidFill>
              </a:rPr>
              <a:t>Ambient temperature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0912" y="3474720"/>
            <a:ext cx="593994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5F8FF"/>
                </a:solidFill>
              </a:rPr>
              <a:t>Extreme ambient conditions increase stress even if cell temperature looks safe.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31920"/>
            <a:ext cx="389168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DCCE1"/>
                </a:solidFill>
              </a:rPr>
              <a:t>Voltage under 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0912" y="3931920"/>
            <a:ext cx="593994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5F8FF"/>
                </a:solidFill>
              </a:rPr>
              <a:t>More voltage sag suggests internal stress and possible pack weakness.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89120"/>
            <a:ext cx="389168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DCCE1"/>
                </a:solidFill>
              </a:rPr>
              <a:t>Current / C-rate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10912" y="4389120"/>
            <a:ext cx="593994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5F8FF"/>
                </a:solidFill>
              </a:rPr>
              <a:t>Higher current increases thermal load and charge/discharge severity.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46320"/>
            <a:ext cx="389168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DCCE1"/>
                </a:solidFill>
              </a:rPr>
              <a:t>SoC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0912" y="4846320"/>
            <a:ext cx="593994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5F8FF"/>
                </a:solidFill>
              </a:rPr>
              <a:t>Very high or very low SoC can increase stress and aging.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03520"/>
            <a:ext cx="389168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DCCE1"/>
                </a:solidFill>
              </a:rPr>
              <a:t>DoD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10912" y="5303520"/>
            <a:ext cx="593994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5F8FF"/>
                </a:solidFill>
              </a:rPr>
              <a:t>Deep discharge cycles generally increase long-term degradation.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60720"/>
            <a:ext cx="389168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DCCE1"/>
                </a:solidFill>
              </a:rPr>
              <a:t>Age / fast charging / mission stress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10912" y="5760720"/>
            <a:ext cx="593994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5F8FF"/>
                </a:solidFill>
              </a:rPr>
              <a:t>Calendar aging and harsh usage lower SoH and increase failure probability.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8FF"/>
                </a:solidFill>
              </a:rPr>
              <a:t>Core Formulas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DCCE1"/>
                </a:solidFill>
              </a:rPr>
              <a:t>Main equations used in feature engineering, labeling, and output generation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71600"/>
            <a:ext cx="5394960" cy="5120640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200" y="1371600"/>
            <a:ext cx="5394960" cy="5120640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</a:defRPr>
            </a:pPr>
            <a:r>
              <a:t>1. Load C-rate = Average Current / Capacity</a:t>
            </a:r>
          </a:p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</a:defRPr>
            </a:pPr>
            <a:r>
              <a:t>Why: normalizes current by battery size and measures how aggressively the battery is being used.</a:t>
            </a:r>
          </a:p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</a:defRPr>
            </a:pPr>
            <a:r>
              <a:t>2. Energy (Wh) = Integral[ Voltage x |Current| dt ] / 3600</a:t>
            </a:r>
          </a:p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</a:defRPr>
            </a:pPr>
            <a:r>
              <a:t>Why: captures actual energy delivered during discharge, not just instantaneous values.</a:t>
            </a:r>
          </a:p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</a:defRPr>
            </a:pPr>
            <a:r>
              <a:t>3. SoH (%) = (Current Capacity / Initial or Best Capacity) x 100</a:t>
            </a:r>
          </a:p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</a:defRPr>
            </a:pPr>
            <a:r>
              <a:t>Why: standard battery-health definition used to quantify degradation.</a:t>
            </a:r>
          </a:p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</a:defRPr>
            </a:pPr>
            <a:r>
              <a:t>4. RUL (cycles) = End-of-Life Cycle - Current Cycle</a:t>
            </a:r>
          </a:p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</a:defRPr>
            </a:pPr>
            <a:r>
              <a:t>Why: directly measures remaining life before the battery crosses the end-of-life threshold.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82512" y="16459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</a:defRPr>
            </a:pPr>
            <a:r>
              <a:t>5. Voltage Sag Risk = (Average Voltage - Minimum Voltage) / 0.7</a:t>
            </a:r>
          </a:p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</a:defRPr>
            </a:pPr>
            <a:r>
              <a:t>Why: larger sag often indicates internal resistance rise or stressed cells.</a:t>
            </a:r>
          </a:p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</a:defRPr>
            </a:pPr>
            <a:r>
              <a:t>6. Failure Probability = Sigmoid( wear + stress + anomaly + temperature effects )</a:t>
            </a:r>
          </a:p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</a:defRPr>
            </a:pPr>
            <a:r>
              <a:t>Why: converts several risk signals into an interpretable probability-like output.</a:t>
            </a:r>
          </a:p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</a:defRPr>
            </a:pPr>
            <a:r>
              <a:t>7. Degradation Rate per Cycle = Wear % / Cycle Number</a:t>
            </a:r>
          </a:p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</a:defRPr>
            </a:pPr>
            <a:r>
              <a:t>Why: gives a quick estimate of how rapidly the pack is aging.</a:t>
            </a:r>
          </a:p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</a:defRPr>
            </a:pPr>
            <a:r>
              <a:t>8. Stress Index = weighted sum of SoC, DoD, age, fast-charge, vibration, distance, speed, and thermal factors</a:t>
            </a:r>
          </a:p>
          <a:p>
            <a:pPr>
              <a:spcAft>
                <a:spcPts val="600"/>
              </a:spcAft>
              <a:defRPr sz="1400">
                <a:solidFill>
                  <a:srgbClr val="F5F8FF"/>
                </a:solidFill>
              </a:defRPr>
            </a:pPr>
            <a:r>
              <a:t>Why: adds real-world EV/drone behavior that does not fully exist in the raw training dataset.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8FF"/>
                </a:solidFill>
              </a:rPr>
              <a:t>ML Algorithms Used And Why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DCCE1"/>
                </a:solidFill>
              </a:rPr>
              <a:t>All prediction and detection algorithms used in the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577840" cy="5212080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399032"/>
            <a:ext cx="52120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ED5BF"/>
                </a:solidFill>
              </a:rPr>
              <a:t>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89372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DCCE1"/>
                </a:solidFill>
              </a:rPr>
              <a:t>RandomForestRegressor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62072" y="1737360"/>
            <a:ext cx="2890418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5F8FF"/>
                </a:solidFill>
              </a:rPr>
              <a:t>Strong ensemble baseline for nonlinear tabular battery data. Robust and easy to interpret.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189372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DCCE1"/>
                </a:solidFill>
              </a:rPr>
              <a:t>ExtraTreesRegressor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62072" y="2377439"/>
            <a:ext cx="2890418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5F8FF"/>
                </a:solidFill>
              </a:rPr>
              <a:t>Selected final regressor. Gives strong performance on mixed engineered battery features.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189372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DCCE1"/>
                </a:solidFill>
              </a:rPr>
              <a:t>GradientBoostingRegressor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2072" y="3017520"/>
            <a:ext cx="2890418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5F8FF"/>
                </a:solidFill>
              </a:rPr>
              <a:t>Useful comparison model that sequentially improves prediction residuals.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189372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BDCCE1"/>
                </a:solidFill>
              </a:rPr>
              <a:t>IsolationForest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2072" y="3657599"/>
            <a:ext cx="2890418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F5F8FF"/>
                </a:solidFill>
              </a:rPr>
              <a:t>Detects abnormal battery states that look unusual compared with training data.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325880"/>
            <a:ext cx="5120640" cy="5212080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399032"/>
            <a:ext cx="4754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ED5BF"/>
                </a:solidFill>
              </a:rPr>
              <a:t>Why Model Comparison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1737360"/>
            <a:ext cx="4480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5F8FF"/>
                </a:solidFill>
              </a:defRPr>
            </a:pPr>
            <a:r>
              <a:t>Different algorithms behave differently on battery-health tabular data.</a:t>
            </a:r>
          </a:p>
          <a:p>
            <a:pPr>
              <a:spcAft>
                <a:spcPts val="600"/>
              </a:spcAft>
              <a:defRPr sz="1500">
                <a:solidFill>
                  <a:srgbClr val="F5F8FF"/>
                </a:solidFill>
              </a:defRPr>
            </a:pPr>
            <a:r>
              <a:t>The training script evaluates MAE and R² for SoH and RUL separately.</a:t>
            </a:r>
          </a:p>
          <a:p>
            <a:pPr>
              <a:spcAft>
                <a:spcPts val="600"/>
              </a:spcAft>
              <a:defRPr sz="1500">
                <a:solidFill>
                  <a:srgbClr val="F5F8FF"/>
                </a:solidFill>
              </a:defRPr>
            </a:pPr>
            <a:r>
              <a:t>Selected SoH model: extra_trees</a:t>
            </a:r>
          </a:p>
          <a:p>
            <a:pPr>
              <a:spcAft>
                <a:spcPts val="600"/>
              </a:spcAft>
              <a:defRPr sz="1500">
                <a:solidFill>
                  <a:srgbClr val="F5F8FF"/>
                </a:solidFill>
              </a:defRPr>
            </a:pPr>
            <a:r>
              <a:t>Selected RUL model: extra_trees</a:t>
            </a:r>
          </a:p>
          <a:p>
            <a:pPr>
              <a:spcAft>
                <a:spcPts val="600"/>
              </a:spcAft>
              <a:defRPr sz="1500">
                <a:solidFill>
                  <a:srgbClr val="F5F8FF"/>
                </a:solidFill>
              </a:defRPr>
            </a:pPr>
            <a:r>
              <a:t>This makes the system more defensible than choosing a single model without comparison.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8FF"/>
                </a:solidFill>
              </a:rPr>
              <a:t>Training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DCCE1"/>
                </a:solidFill>
              </a:rPr>
              <a:t>Current performance from the latest run in this workspace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194560" cy="1234440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517904"/>
            <a:ext cx="1874519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779B"/>
                </a:solidFill>
              </a:rPr>
              <a:t>SoH MAE</a:t>
            </a:r>
          </a:p>
          <a:p>
            <a:r>
              <a:rPr sz="2200" b="1">
                <a:solidFill>
                  <a:srgbClr val="F5F8FF"/>
                </a:solidFill>
              </a:rPr>
              <a:t>1.58%</a:t>
            </a:r>
          </a:p>
          <a:p>
            <a:r>
              <a:rPr sz="1000">
                <a:solidFill>
                  <a:srgbClr val="BDCCE1"/>
                </a:solidFill>
              </a:rPr>
              <a:t>Lower is better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1371600"/>
            <a:ext cx="2194560" cy="1234440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73552" y="1517904"/>
            <a:ext cx="1874519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779B"/>
                </a:solidFill>
              </a:rPr>
              <a:t>SoH R²</a:t>
            </a:r>
          </a:p>
          <a:p>
            <a:r>
              <a:rPr sz="2200" b="1">
                <a:solidFill>
                  <a:srgbClr val="F5F8FF"/>
                </a:solidFill>
              </a:rPr>
              <a:t>0.981</a:t>
            </a:r>
          </a:p>
          <a:p>
            <a:r>
              <a:rPr sz="1000">
                <a:solidFill>
                  <a:srgbClr val="BDCCE1"/>
                </a:solidFill>
              </a:rPr>
              <a:t>Closer to 1 is better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371600"/>
            <a:ext cx="2194560" cy="1234440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50992" y="1517904"/>
            <a:ext cx="1874519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779B"/>
                </a:solidFill>
              </a:rPr>
              <a:t>RUL MAE</a:t>
            </a:r>
          </a:p>
          <a:p>
            <a:r>
              <a:rPr sz="2200" b="1">
                <a:solidFill>
                  <a:srgbClr val="F5F8FF"/>
                </a:solidFill>
              </a:rPr>
              <a:t>0.97</a:t>
            </a:r>
          </a:p>
          <a:p>
            <a:r>
              <a:rPr sz="1000">
                <a:solidFill>
                  <a:srgbClr val="BDCCE1"/>
                </a:solidFill>
              </a:rPr>
              <a:t>Cycles error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371600"/>
            <a:ext cx="2194560" cy="1234440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28431" y="1517904"/>
            <a:ext cx="1874519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0779B"/>
                </a:solidFill>
              </a:rPr>
              <a:t>RUL R²</a:t>
            </a:r>
          </a:p>
          <a:p>
            <a:r>
              <a:rPr sz="2200" b="1">
                <a:solidFill>
                  <a:srgbClr val="F5F8FF"/>
                </a:solidFill>
              </a:rPr>
              <a:t>0.990</a:t>
            </a:r>
          </a:p>
          <a:p>
            <a:r>
              <a:rPr sz="1000">
                <a:solidFill>
                  <a:srgbClr val="BDCCE1"/>
                </a:solidFill>
              </a:rPr>
              <a:t>Closer to 1 is better</a:t>
            </a:r>
          </a:p>
        </p:txBody>
      </p:sp>
      <p:pic>
        <p:nvPicPr>
          <p:cNvPr id="12" name="Picture 11" descr="model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43200"/>
            <a:ext cx="5303520" cy="3200400"/>
          </a:xfrm>
          <a:prstGeom prst="rect">
            <a:avLst/>
          </a:prstGeom>
        </p:spPr>
      </p:pic>
      <p:pic>
        <p:nvPicPr>
          <p:cNvPr id="13" name="Picture 12" descr="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743200"/>
            <a:ext cx="50292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8FF"/>
                </a:solidFill>
              </a:rPr>
              <a:t>Outputs Generated By The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DCCE1"/>
                </a:solidFill>
              </a:rPr>
              <a:t>What the user gets after clicking Run Battery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03520" cy="5120640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399032"/>
            <a:ext cx="49377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ED5BF"/>
                </a:solidFill>
              </a:rPr>
              <a:t>Primary Outputs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State of Health (SoH)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Wear percentage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Remaining Useful Life (RUL)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Estimated end-of-life cycle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Failure probability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Thermal risk label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Confidence score and anomaly flag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25880"/>
            <a:ext cx="5303520" cy="5120640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399032"/>
            <a:ext cx="49377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ED5BF"/>
                </a:solidFill>
              </a:rPr>
              <a:t>Analytical Visuals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Capacity degradation forecast chart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Feature contribution / wear-driver chart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Pack-level heatmap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What-if low-stress scenario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Maintenance recommendations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Downloadable Excel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8FF"/>
                </a:solidFill>
              </a:rPr>
              <a:t>UI And 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DCCE1"/>
                </a:solidFill>
              </a:rPr>
              <a:t>How the dashboard helps the user understand battery condition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50292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Top cards summarize dataset strength and model performance.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Interactive controls let the user simulate EV or drone battery scenarios.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The health ring gives a quick visual signal of battery condition.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Charts explain both future degradation and the main reasons behind wear.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The report export makes the result easy to share and inspect in Excel.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417320"/>
            <a:ext cx="5303520" cy="4389120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490472"/>
            <a:ext cx="49377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ED5BF"/>
                </a:solidFill>
              </a:rPr>
              <a:t>Why this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Transforms raw ML output into an interpretable battery intelligence tool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Useful for predictive maintenance demos and project presentations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Balances engineering realism with an accessible visual interface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8FF"/>
                </a:solidFill>
              </a:rPr>
              <a:t>Limitations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DCCE1"/>
                </a:solidFill>
              </a:rPr>
              <a:t>What is realistic already and what can be improved further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5303520" cy="5212080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399032"/>
            <a:ext cx="493775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ED5BF"/>
                </a:solidFill>
              </a:rPr>
              <a:t>Current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NASA dataset is real, but some EV/drone mission variables are not directly present in the raw data.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Several scenario variables are modeled through domain logic rather than learned from large telemetry datasets.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The system is strong for demonstration and analysis, but not yet a production battery management system.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120640" cy="5212080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99032"/>
            <a:ext cx="475487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ED5BF"/>
                </a:solidFill>
              </a:rPr>
              <a:t>Future Improvements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783080"/>
            <a:ext cx="4480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Use larger EV/drone telemetry datasets for direct learning of mission stress.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Add sequence models such as LSTM or transformer-based time-series predictors.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Include real cell-balancing, fault-code, and BMS telemetry streams.</a:t>
            </a:r>
          </a:p>
          <a:p>
            <a:pPr>
              <a:spcAft>
                <a:spcPts val="600"/>
              </a:spcAft>
              <a:defRPr sz="1600">
                <a:solidFill>
                  <a:srgbClr val="F5F8FF"/>
                </a:solidFill>
              </a:defRPr>
            </a:pPr>
            <a:r>
              <a:t>Deploy the app as a cloud dashboard or desktop product.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D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5F8FF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0584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DCCE1"/>
                </a:solidFill>
              </a:rPr>
              <a:t>Why this project is meaningful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789920" cy="4389120"/>
          </a:xfrm>
          <a:prstGeom prst="roundRect">
            <a:avLst/>
          </a:prstGeom>
          <a:solidFill>
            <a:srgbClr val="111C31"/>
          </a:solidFill>
          <a:ln w="15240">
            <a:solidFill>
              <a:srgbClr val="2C3D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9966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5F8FF"/>
                </a:solidFill>
              </a:defRPr>
            </a:pPr>
            <a:r>
              <a:t>This project combines real NASA battery-aging data with machine learning and an engineering-based realism layer.</a:t>
            </a:r>
          </a:p>
          <a:p>
            <a:pPr>
              <a:spcAft>
                <a:spcPts val="600"/>
              </a:spcAft>
              <a:defRPr sz="2000">
                <a:solidFill>
                  <a:srgbClr val="F5F8FF"/>
                </a:solidFill>
              </a:defRPr>
            </a:pPr>
            <a:r>
              <a:t>It predicts battery degradation, explains the result visually, and supports EV/drone-specific what-if analysis.</a:t>
            </a:r>
          </a:p>
          <a:p>
            <a:pPr>
              <a:spcAft>
                <a:spcPts val="600"/>
              </a:spcAft>
              <a:defRPr sz="2000">
                <a:solidFill>
                  <a:srgbClr val="F5F8FF"/>
                </a:solidFill>
              </a:defRPr>
            </a:pPr>
            <a:r>
              <a:t>The final system is not just a model, but a complete battery intelligence dashboard with reporting and interpretability.</a:t>
            </a:r>
          </a:p>
          <a:p>
            <a:pPr>
              <a:spcAft>
                <a:spcPts val="600"/>
              </a:spcAft>
              <a:defRPr sz="2000">
                <a:solidFill>
                  <a:srgbClr val="F5F8FF"/>
                </a:solidFill>
              </a:defRPr>
            </a:pPr>
            <a:r>
              <a:t>That makes it a strong academic project, a good portfolio piece, and a useful demo for predictive maintenance concepts.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12648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BDCCE1"/>
                </a:solidFill>
              </a:rPr>
              <a:t>Presentation generated from the current project artifacts in C:\ML proj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